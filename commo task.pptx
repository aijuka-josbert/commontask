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7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1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4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0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9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15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3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9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3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30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5426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2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94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28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88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4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9F59576-24C4-4982-B6C9-2277CEFBC6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4B1E7-870D-46D9-BBCE-B8F8C09BB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39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253948" y="992098"/>
            <a:ext cx="94140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1 PRESENTATION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Speech-to-Text and NLP Analysis of African-Accented English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Analysis of the AfriSpeech-200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3948" y="3073400"/>
            <a:ext cx="9414052" cy="2184400"/>
          </a:xfrm>
        </p:spPr>
        <p:txBody>
          <a:bodyPr>
            <a:noAutofit/>
          </a:bodyPr>
          <a:lstStyle/>
          <a:p>
            <a:pPr algn="l"/>
            <a:r>
              <a:rPr lang="en-US" sz="1700" dirty="0" smtClean="0"/>
              <a:t>Kwagala Ian 						2023-B072-20932</a:t>
            </a:r>
          </a:p>
          <a:p>
            <a:pPr algn="l"/>
            <a:r>
              <a:rPr lang="en-US" sz="1700" dirty="0" smtClean="0"/>
              <a:t>Aijuka Josbert						2023-B071-20758</a:t>
            </a:r>
          </a:p>
          <a:p>
            <a:pPr algn="l"/>
            <a:r>
              <a:rPr lang="en-US" sz="1700" dirty="0" smtClean="0"/>
              <a:t>Babirye Stephania					2023-B071-21283</a:t>
            </a:r>
          </a:p>
          <a:p>
            <a:pPr algn="l"/>
            <a:r>
              <a:rPr lang="en-US" sz="1700" dirty="0" smtClean="0"/>
              <a:t>Nakakande Jennifer W.S			2023-B071-22675</a:t>
            </a:r>
          </a:p>
          <a:p>
            <a:pPr algn="l"/>
            <a:r>
              <a:rPr lang="en-US" sz="1700" dirty="0" smtClean="0"/>
              <a:t>Kyoloobi Edwin 				</a:t>
            </a:r>
            <a:r>
              <a:rPr lang="en-US" sz="1700" dirty="0"/>
              <a:t>	</a:t>
            </a:r>
            <a:r>
              <a:rPr lang="en-US" sz="1700" dirty="0" smtClean="0"/>
              <a:t>2023-B071-22336</a:t>
            </a:r>
          </a:p>
          <a:p>
            <a:pPr algn="l"/>
            <a:r>
              <a:rPr lang="en-US" sz="1700" dirty="0" err="1" smtClean="0"/>
              <a:t>Nakanwagi</a:t>
            </a:r>
            <a:r>
              <a:rPr lang="en-US" sz="1700" dirty="0" smtClean="0"/>
              <a:t> Pamela Maureen 	</a:t>
            </a:r>
            <a:r>
              <a:rPr lang="en-US" sz="1700" dirty="0"/>
              <a:t> </a:t>
            </a:r>
            <a:r>
              <a:rPr lang="en-US" sz="1700" dirty="0" smtClean="0"/>
              <a:t>	2023-B071-20462</a:t>
            </a:r>
          </a:p>
          <a:p>
            <a:pPr algn="l"/>
            <a:endParaRPr lang="en-US" sz="1700" dirty="0" smtClean="0"/>
          </a:p>
          <a:p>
            <a:endParaRPr lang="en-US" sz="1700" dirty="0" smtClean="0"/>
          </a:p>
          <a:p>
            <a:endParaRPr lang="en-US" sz="1700" dirty="0" smtClean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329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Project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Content</a:t>
            </a:r>
            <a:r>
              <a:rPr lang="en-US" b="1" dirty="0" smtClean="0"/>
              <a:t>:</a:t>
            </a:r>
            <a:endParaRPr lang="en-US" dirty="0" smtClean="0"/>
          </a:p>
          <a:p>
            <a:pPr lvl="1"/>
            <a:r>
              <a:rPr lang="en-US" dirty="0" smtClean="0"/>
              <a:t>Build a complete speech-to-text pipeline using the AfriSpeech-200 dataset.</a:t>
            </a:r>
          </a:p>
          <a:p>
            <a:pPr lvl="1"/>
            <a:r>
              <a:rPr lang="en-US" dirty="0" smtClean="0"/>
              <a:t>Transcribe audio samples of African-accented English using the Whisper ASR model.</a:t>
            </a:r>
          </a:p>
          <a:p>
            <a:pPr lvl="1"/>
            <a:r>
              <a:rPr lang="en-US" dirty="0" smtClean="0"/>
              <a:t>Apply Natural Language Processing (NLP) tasks to the transcribed text.</a:t>
            </a:r>
          </a:p>
          <a:p>
            <a:pPr lvl="1"/>
            <a:r>
              <a:rPr lang="en-US" dirty="0" smtClean="0"/>
              <a:t>Analyze the results to identify key topics, sentiment patterns, and challenges.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223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AfriSpeech-200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Title:</a:t>
            </a:r>
            <a:r>
              <a:rPr lang="en-US" dirty="0" smtClean="0"/>
              <a:t> Understanding the Dataset</a:t>
            </a:r>
          </a:p>
          <a:p>
            <a:r>
              <a:rPr lang="en-US" b="1" dirty="0" smtClean="0"/>
              <a:t>Content:</a:t>
            </a:r>
            <a:endParaRPr lang="en-US" dirty="0" smtClean="0"/>
          </a:p>
          <a:p>
            <a:pPr lvl="1"/>
            <a:r>
              <a:rPr lang="en-US" dirty="0" smtClean="0"/>
              <a:t>A pan-African speech corpus with over 200 hours of audio.</a:t>
            </a:r>
          </a:p>
          <a:p>
            <a:pPr lvl="1"/>
            <a:r>
              <a:rPr lang="en-US" dirty="0" smtClean="0"/>
              <a:t>Features English with accents from various African countries (Botswana </a:t>
            </a:r>
            <a:r>
              <a:rPr lang="en-US" dirty="0" smtClean="0"/>
              <a:t>and </a:t>
            </a:r>
            <a:r>
              <a:rPr lang="en-US" dirty="0" err="1" smtClean="0"/>
              <a:t>SouthAfrica</a:t>
            </a:r>
            <a:r>
              <a:rPr lang="en-US" dirty="0" smtClean="0"/>
              <a:t>).</a:t>
            </a:r>
            <a:endParaRPr lang="en-US" dirty="0" smtClean="0"/>
          </a:p>
          <a:p>
            <a:pPr lvl="1"/>
            <a:r>
              <a:rPr lang="en-US" dirty="0" smtClean="0"/>
              <a:t>For this analysis, a subset of 20 samples was streamed and analyzed.</a:t>
            </a:r>
          </a:p>
          <a:p>
            <a:r>
              <a:rPr lang="en-US" b="1" dirty="0" smtClean="0"/>
              <a:t>Visuals: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1521"/>
            <a:ext cx="12192000" cy="89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30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Methodology: The Analysis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Title:</a:t>
            </a:r>
            <a:r>
              <a:rPr lang="en-US" dirty="0" smtClean="0"/>
              <a:t> Our Approach</a:t>
            </a:r>
          </a:p>
          <a:p>
            <a:r>
              <a:rPr lang="en-US" dirty="0" smtClean="0"/>
              <a:t>A simple flowchart graphic illustrating the steps:</a:t>
            </a:r>
          </a:p>
          <a:p>
            <a:pPr lvl="1"/>
            <a:r>
              <a:rPr lang="en-US" dirty="0" smtClean="0"/>
              <a:t>1. Data Loading -&gt;</a:t>
            </a:r>
          </a:p>
          <a:p>
            <a:pPr lvl="2"/>
            <a:r>
              <a:rPr lang="en-US" dirty="0" smtClean="0"/>
              <a:t> 2. Transcription (Whisper) -&gt; </a:t>
            </a:r>
          </a:p>
          <a:p>
            <a:pPr lvl="3"/>
            <a:r>
              <a:rPr lang="en-US" dirty="0" smtClean="0"/>
              <a:t>3. Text Cleaning -&gt; </a:t>
            </a:r>
          </a:p>
          <a:p>
            <a:pPr lvl="4"/>
            <a:r>
              <a:rPr lang="en-US" dirty="0" smtClean="0"/>
              <a:t>4. NLP Analysis (Sentiment, Keywords) -&gt;</a:t>
            </a:r>
          </a:p>
          <a:p>
            <a:pPr lvl="5"/>
            <a:r>
              <a:rPr lang="en-US" dirty="0" smtClean="0"/>
              <a:t> 5. Interpretation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45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Step 1: Speech Recognition with Whisper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96900" y="1967686"/>
            <a:ext cx="116910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Transcription Engine: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OpenAI's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Whisper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Utilized the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/whisper-small model, a powerful pre-trained model for Automatic Speech Recognition (ASR).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was loaded onto a [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cuda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device for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audio sample was resampled to 16,000 Hz as required by the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Snippet: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693476"/>
            <a:ext cx="9753600" cy="402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4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Transcription Performance Analysis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19986"/>
            <a:ext cx="968630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How Well Did Whisper Perform?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was measured using Word Error Rate (WER) and Character Error Rate (CER).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90115"/>
            <a:ext cx="6324600" cy="328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8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Sample Transcription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351338"/>
          </a:xfrm>
        </p:spPr>
        <p:txBody>
          <a:bodyPr/>
          <a:lstStyle/>
          <a:p>
            <a:r>
              <a:rPr lang="en-US" b="1" dirty="0"/>
              <a:t>Title:</a:t>
            </a:r>
            <a:r>
              <a:rPr lang="en-US" dirty="0"/>
              <a:t> Transcription in </a:t>
            </a:r>
            <a:r>
              <a:rPr lang="en-US" dirty="0" smtClean="0"/>
              <a:t>Action</a:t>
            </a:r>
            <a:endParaRPr lang="en-US" dirty="0"/>
          </a:p>
          <a:p>
            <a:r>
              <a:rPr lang="en-US" b="1" dirty="0"/>
              <a:t>Content:</a:t>
            </a:r>
            <a:endParaRPr lang="en-US" dirty="0"/>
          </a:p>
          <a:p>
            <a:pPr lvl="1"/>
            <a:r>
              <a:rPr lang="en-US" dirty="0"/>
              <a:t>A side-by-side look at the original text versus the model's output. This highlights common errors like missed words, phonetic mistakes, or punctuation differences.</a:t>
            </a:r>
          </a:p>
          <a:p>
            <a:r>
              <a:rPr lang="en-US" b="1" dirty="0"/>
              <a:t>Output</a:t>
            </a:r>
            <a:r>
              <a:rPr lang="en-US" b="1" dirty="0" smtClean="0"/>
              <a:t>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3554059"/>
            <a:ext cx="10909300" cy="525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30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Preparing Text for NLP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27931"/>
            <a:ext cx="87543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Text Cleaning and Pre-processing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analysis, the transcribed text was cleaned to improve accuracy: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Lowercasing: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Standardized all text to lowercase.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Punctuation Removal: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all special characters.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Stopword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Removal: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Eliminated common English words (e.g., "the", "a", "is").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27314"/>
            <a:ext cx="9707330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3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Sentiment Analysis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04531"/>
            <a:ext cx="882055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is the Tone of the Speech?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the sentiment of the transcriptions using two methods: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TextBlob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polarity score from -1 (Negative) to +1 (Positive).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VADER: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for social media text, gives a compound score from -1 to +1.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1088" y="3693629"/>
            <a:ext cx="151447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62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Keyword Extraction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2426" y="1209841"/>
            <a:ext cx="1135766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Key Topics with TF-IDF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 Frequency-Inverse Document Frequency (TF-IDF) was used to identify the most statistically significant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words in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helps uncover the main topics being discussed.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69" y="2953992"/>
            <a:ext cx="899160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0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Interpretation: Key 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152983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Content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b="1" dirty="0"/>
              <a:t>Transcription Quality:</a:t>
            </a:r>
            <a:r>
              <a:rPr lang="en-US" dirty="0"/>
              <a:t> The average WER of </a:t>
            </a:r>
            <a:r>
              <a:rPr lang="en-US" dirty="0" smtClean="0"/>
              <a:t>1.081 shows </a:t>
            </a:r>
            <a:r>
              <a:rPr lang="en-US" dirty="0"/>
              <a:t>the model is effective but has challenges, particularly with </a:t>
            </a:r>
            <a:r>
              <a:rPr lang="en-US" dirty="0" smtClean="0"/>
              <a:t>south </a:t>
            </a:r>
            <a:r>
              <a:rPr lang="en-US" dirty="0" err="1" smtClean="0"/>
              <a:t>afrcia</a:t>
            </a:r>
            <a:r>
              <a:rPr lang="en-US" dirty="0" smtClean="0"/>
              <a:t> .</a:t>
            </a:r>
            <a:endParaRPr lang="en-US" dirty="0"/>
          </a:p>
          <a:p>
            <a:pPr lvl="1"/>
            <a:r>
              <a:rPr lang="en-US" b="1" dirty="0"/>
              <a:t>Dominant Sentiment:</a:t>
            </a:r>
            <a:r>
              <a:rPr lang="en-US" dirty="0"/>
              <a:t> The overall sentiment of the speech samples was predominantly </a:t>
            </a:r>
            <a:r>
              <a:rPr lang="en-US" b="1" dirty="0" smtClean="0"/>
              <a:t>Negative</a:t>
            </a:r>
            <a:r>
              <a:rPr lang="en-US" dirty="0" smtClean="0"/>
              <a:t>, </a:t>
            </a:r>
            <a:r>
              <a:rPr lang="en-US" dirty="0"/>
              <a:t>with an average VADER score of -0.062</a:t>
            </a:r>
          </a:p>
          <a:p>
            <a:pPr lvl="1"/>
            <a:r>
              <a:rPr lang="en-US" b="1" dirty="0"/>
              <a:t>Key Topics:</a:t>
            </a:r>
            <a:r>
              <a:rPr lang="en-US" dirty="0"/>
              <a:t> The most important topics identified were related </a:t>
            </a:r>
            <a:r>
              <a:rPr lang="en-US" dirty="0" smtClean="0"/>
              <a:t>to, were</a:t>
            </a:r>
            <a:r>
              <a:rPr lang="en-US" dirty="0"/>
              <a:t>: stop, patient, city, area, life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39966"/>
            <a:ext cx="8135485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20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&amp; Future Work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2674" y="1429343"/>
            <a:ext cx="1181932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Challenges and Avenues for Improvement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Accent Diversity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model's performance varies across different African accents, indicating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more diverse training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 Code-Switching &amp; Jargon: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Mixed language and domain-specific terms can confuse the ASR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Suggestion for Improvement: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Fine-tune the Whisper model on a larger, accent-specific subset of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AfriSpeech-200 data to reduce 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Suggestion for Improvement: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custom vocabulary to handle specialized or non-English terms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in the audio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766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Q&amp;A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Thank You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Questions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814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62</TotalTime>
  <Words>634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GROUP 1 PRESENTATION Title: Speech-to-Text and NLP Analysis of African-Accented English Subtitle: An Analysis of the AfriSpeech-200 Dataset</vt:lpstr>
      <vt:lpstr>Project Objective</vt:lpstr>
      <vt:lpstr>The AfriSpeech-200 Dataset</vt:lpstr>
      <vt:lpstr>Methodology: The Analysis Pipeline</vt:lpstr>
      <vt:lpstr>Step 1: Speech Recognition with Whisper</vt:lpstr>
      <vt:lpstr>Transcription Performance Analysis</vt:lpstr>
      <vt:lpstr>Sample Transcription Comparison</vt:lpstr>
      <vt:lpstr>Step 2: Preparing Text for NLP</vt:lpstr>
      <vt:lpstr>Step 3: Sentiment Analysis</vt:lpstr>
      <vt:lpstr>Step 4: Keyword Extraction</vt:lpstr>
      <vt:lpstr>Interpretation: Key Findings</vt:lpstr>
      <vt:lpstr>Challenges &amp; Future Work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Speech-to-Text and NLP Analysis of African-Accented English Subtitle: An Analysis of the AfriSpeech-200 Dataset</dc:title>
  <dc:creator>Lunatic</dc:creator>
  <cp:lastModifiedBy>Lunatic</cp:lastModifiedBy>
  <cp:revision>16</cp:revision>
  <dcterms:created xsi:type="dcterms:W3CDTF">2025-11-05T21:20:04Z</dcterms:created>
  <dcterms:modified xsi:type="dcterms:W3CDTF">2025-11-06T05:12:55Z</dcterms:modified>
</cp:coreProperties>
</file>